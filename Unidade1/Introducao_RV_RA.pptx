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4d7b08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4d7b08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64d7b084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4d7b084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64d7b084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64d7b084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4d7b084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4d7b084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64d7b084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64d7b084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64d7b084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64d7b084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4d7b0847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4d7b084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64d7b0847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4d7b0847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64d7b0847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64d7b0847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4d7b0847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64d7b0847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64d7b0847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4d7b0847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64d7b0847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64d7b0847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4d7b0847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64d7b0847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64d7b0847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4d7b084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64d7b084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64d7b084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Relationship Id="rId7" Type="http://schemas.openxmlformats.org/officeDocument/2006/relationships/image" Target="../media/image40.png"/><Relationship Id="rId8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7.png"/><Relationship Id="rId4" Type="http://schemas.openxmlformats.org/officeDocument/2006/relationships/image" Target="../media/image63.png"/><Relationship Id="rId9" Type="http://schemas.openxmlformats.org/officeDocument/2006/relationships/image" Target="../media/image70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54.png"/><Relationship Id="rId8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C63FF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0E5CC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REALIDADE VIRTUAL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377440"/>
            <a:ext cx="9601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Introdução, História, Evolução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 o Futuro da Área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68680" y="5577840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60350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Com base em: Tori, R. &amp; Hounsell, M. S. — Introdução à Realidade Virtual e Aumentada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50292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O que vamos percorrer nesta apresentação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82880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68680" y="196596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783080" y="1975104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Fundamentos da Realidade Virtual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783080" y="23774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Conceito, pilares e o continuum realidade-virtualidade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17920" y="182880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46520" y="196596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60920" y="1975104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História e Evolução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60920" y="23774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Dos primeiros dispositivos à democratização da RV/RA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320040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68680" y="333756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783080" y="3346704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Principais Áreas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83080" y="37490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RV Imersiva, RA, Realidade Diminuída, Misturada, Alternativa e Metaverso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17920" y="320040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46520" y="333756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360920" y="3346704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Aplicações e o Futuro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60920" y="37490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Onde a área está sendo usada e para onde caminha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2651760" y="5120640"/>
            <a:ext cx="2926080" cy="2926080"/>
          </a:xfrm>
          <a:prstGeom prst="ellipse">
            <a:avLst/>
          </a:prstGeom>
          <a:solidFill>
            <a:srgbClr val="6C63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eadset_cyan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3317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457200" y="502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86868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709160" y="54864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O que 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Realidade Virtual?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709160" y="187452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Segundo Tori e Hounsell, a Realidade Virtual (RV) é uma </a:t>
            </a:r>
            <a:r>
              <a:rPr b="1" i="0" lang="en-US" sz="15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interface avançada</a:t>
            </a:r>
            <a:r>
              <a:rPr b="0" i="0" lang="en-US" sz="15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 para aplicações computacionais, que permite ao usuário </a:t>
            </a:r>
            <a:r>
              <a:rPr b="1" i="0" lang="en-US" sz="15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interagir e se imergir</a:t>
            </a:r>
            <a:r>
              <a:rPr b="0" i="0" lang="en-US" sz="15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 em um ambiente sintético tridimensional, gerado por computador, utilizando canais multissensoriais.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709160" y="3547872"/>
            <a:ext cx="91440" cy="91440"/>
          </a:xfrm>
          <a:prstGeom prst="ellipse">
            <a:avLst/>
          </a:prstGeom>
          <a:solidFill>
            <a:srgbClr val="00E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983480" y="340156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Simula, no todo ou em parte, um ambiente real ou imaginário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709160" y="4114800"/>
            <a:ext cx="91440" cy="91440"/>
          </a:xfrm>
          <a:prstGeom prst="ellipse">
            <a:avLst/>
          </a:prstGeom>
          <a:solidFill>
            <a:srgbClr val="00E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983480" y="3968496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Coloca o usuário no centro da experiência, e não apenas como observador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709160" y="4681728"/>
            <a:ext cx="91440" cy="91440"/>
          </a:xfrm>
          <a:prstGeom prst="ellipse">
            <a:avLst/>
          </a:prstGeom>
          <a:solidFill>
            <a:srgbClr val="00E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983480" y="4535424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Depende de dispositivos e técnicas que ampliam os sentidos humanos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Os Três Pilares da RV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Imersão, Interação e Envolvimento</a:t>
            </a:r>
            <a:endParaRPr sz="1300">
              <a:solidFill>
                <a:srgbClr val="6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0080" y="1965960"/>
            <a:ext cx="3337560" cy="39319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805940" y="2377440"/>
            <a:ext cx="1005840" cy="1005840"/>
          </a:xfrm>
          <a:prstGeom prst="ellipse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eye_cyan.png" id="76" name="Google Shape;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252" y="25877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822960" y="3657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Imersão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60120" y="4160520"/>
            <a:ext cx="2697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Sensação de estar presente dentro do ambiente virtual, isolado (ou não) do mundo real, por meio de estímulos sensoriais convincentes.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297680" y="1965960"/>
            <a:ext cx="3337560" cy="39319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5463540" y="2377440"/>
            <a:ext cx="1005840" cy="1005840"/>
          </a:xfrm>
          <a:prstGeom prst="ellipse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and_cyan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3852" y="25877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4480560" y="3657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Interação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617720" y="4160520"/>
            <a:ext cx="2697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Capacidade do sistema de reagir às ações do usuário em tempo real, permitindo manipular e explorar o ambiente virtual.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955280" y="1965960"/>
            <a:ext cx="3337560" cy="39319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9121140" y="2377440"/>
            <a:ext cx="1005840" cy="1005840"/>
          </a:xfrm>
          <a:prstGeom prst="ellipse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rain_cyan.png" id="86" name="Google Shape;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1452" y="25877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8138160" y="3657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Envolvimento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75320" y="4160520"/>
            <a:ext cx="2697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Grau de engajamento e motivação do usuário com o conteúdo e a narrativa da aplicação, gerando interesse genuíno.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O Continuum Realidade–Virtualidade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Proposto por Milgram &amp; Kishino (1994), organiza os sistemas entre o mundo totalmente real e o totalmente virtual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960" y="4892040"/>
            <a:ext cx="10515600" cy="1280160"/>
          </a:xfrm>
          <a:prstGeom prst="roundRect">
            <a:avLst>
              <a:gd fmla="val 7143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097280" y="507492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Quanto mais à direita, </a:t>
            </a:r>
            <a:r>
              <a:rPr b="1" i="0" lang="en-US" sz="13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maior a substituição do mundo real por elementos virtuais</a:t>
            </a:r>
            <a:r>
              <a:rPr b="0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; quanto mais à esquerda, maior a predominância de elementos físicos reais no ambiente percebido pelo usuário.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600" y="2369825"/>
            <a:ext cx="7274550" cy="21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3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6C63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istory_cyan.png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1280160" y="548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História e Evolução  ·  Parte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0080" y="10515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Os Primórdios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822960" y="2194560"/>
            <a:ext cx="1828800" cy="1188720"/>
          </a:xfrm>
          <a:prstGeom prst="roundRect">
            <a:avLst>
              <a:gd fmla="val 6154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inoculars_white.png"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32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822960" y="2944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1838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926080" y="2194560"/>
            <a:ext cx="8321040" cy="1188720"/>
          </a:xfrm>
          <a:prstGeom prst="roundRect">
            <a:avLst>
              <a:gd fmla="val 6154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3154680" y="230428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Estereoscópio de Wheatstone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154680" y="26517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Primeiro dispositivo a criar ilusão de profundidade combinando duas imagens — base óptica da imersão visual.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22960" y="3611880"/>
            <a:ext cx="1828800" cy="1188720"/>
          </a:xfrm>
          <a:prstGeom prst="roundRect">
            <a:avLst>
              <a:gd fmla="val 6154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projector_white.png" id="119" name="Google Shape;1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7320" y="3749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>
            <a:off x="822960" y="43616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1962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2926080" y="3611880"/>
            <a:ext cx="8321040" cy="1188720"/>
          </a:xfrm>
          <a:prstGeom prst="roundRect">
            <a:avLst>
              <a:gd fmla="val 6154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3154680" y="372160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Sensorama (Morton Heilig)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154680" y="40690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Simulador multissensorial com imagem, som, vibração e até odor — considerado um marco pioneiro da RV.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822960" y="5029200"/>
            <a:ext cx="1828800" cy="1188720"/>
          </a:xfrm>
          <a:prstGeom prst="roundRect">
            <a:avLst>
              <a:gd fmla="val 6154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swordman_white.png" id="125" name="Google Shape;1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7320" y="5166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822960" y="57790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1968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926080" y="5029200"/>
            <a:ext cx="8321040" cy="1188720"/>
          </a:xfrm>
          <a:prstGeom prst="roundRect">
            <a:avLst>
              <a:gd fmla="val 6154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3154680" y="51389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"Sword of Damocles" (Ivan Sutherland)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154680" y="5486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Primeiro capacete de visualização (HMD) conectado a um computador, ainda que preso ao teto pelo peso.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8806" y="417100"/>
            <a:ext cx="3378475" cy="60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125" y="2255675"/>
            <a:ext cx="3487450" cy="2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554" y="1876050"/>
            <a:ext cx="3363000" cy="39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507" y="2309050"/>
            <a:ext cx="5866649" cy="29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3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E5CC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istory_cyan.png"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/>
        </p:nvSpPr>
        <p:spPr>
          <a:xfrm>
            <a:off x="1280160" y="548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História e Evolução  ·  Parte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40080" y="10515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Consolidação (décadas de 1980–90)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822960" y="19659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oves_cyan.png" id="158" name="Google Shape;1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2130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/>
          <p:nvPr/>
        </p:nvSpPr>
        <p:spPr>
          <a:xfrm>
            <a:off x="1005840" y="2103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1980s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005840" y="24505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Nasce o termo "Virtual Reality"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00584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Jaron Lanier funda a VPL Research e cunha o termo, criando os primeiros luvas e óculos de dados comerciais.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217920" y="19659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satellite_cyan.png" id="163" name="Google Shape;1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52760" y="2130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6400800" y="2103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1989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400800" y="24505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 Ames Research Center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40080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Sistemas de RV aplicados à simulação espacial e treinamento, impulsionando pesquisa acadêmica na área.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822960" y="35661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iCube_cyan.png" id="168" name="Google Shape;16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0" y="3730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/>
          <p:nvPr/>
        </p:nvSpPr>
        <p:spPr>
          <a:xfrm>
            <a:off x="1005840" y="37033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1992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005840" y="40507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CAVE (Cruz-Neira et al.)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005840" y="44074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Ambiente imersivo de projeção em múltiplas telas, permitindo RV sem uso de capacete individual.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217920" y="35661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amepad_cyan.png" id="173" name="Google Shape;17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52760" y="3730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/>
          <p:nvPr/>
        </p:nvSpPr>
        <p:spPr>
          <a:xfrm>
            <a:off x="6400800" y="37033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1990s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400800" y="40507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Indústria de jogos e simuladores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400800" y="44074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Surgimento de fliperamas e simuladores de RV comerciais, ainda caros e de baixa resolução.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233488"/>
            <a:ext cx="7810500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350" y="344425"/>
            <a:ext cx="8299307" cy="616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165" y="1310675"/>
            <a:ext cx="6021675" cy="42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275" y="387238"/>
            <a:ext cx="8089449" cy="60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3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6C63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istory_cyan.png"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/>
          <p:nvPr/>
        </p:nvSpPr>
        <p:spPr>
          <a:xfrm>
            <a:off x="1280160" y="548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História e Evolução  ·  Parte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640080" y="10515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Democratização (anos 2000 em diante)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22960" y="19659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mobile_cyan.png"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2130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/>
          <p:nvPr/>
        </p:nvSpPr>
        <p:spPr>
          <a:xfrm>
            <a:off x="1005840" y="2103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2007+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005840" y="24505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Smartphones e sensores baratos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100584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Câmeras, giroscópios e GPS em massa viabilizam RA acessível ao público geral.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217920" y="19659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vrHeadset_cyan.png" id="222" name="Google Shape;2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52760" y="2130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/>
          <p:nvPr/>
        </p:nvSpPr>
        <p:spPr>
          <a:xfrm>
            <a:off x="6400800" y="2103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2012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6400800" y="24505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Oculus Rift (Kickstarter)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40080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Campanha financiada coletivamente reacende o interesse comercial pela RV de baixo custo.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822960" y="35661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asses_cyan.png" id="227" name="Google Shape;2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0" y="3730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/>
          <p:nvPr/>
        </p:nvSpPr>
        <p:spPr>
          <a:xfrm>
            <a:off x="1005840" y="37033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2016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1005840" y="40507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Pokémon GO e HoloLens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1005840" y="44074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RA populariza-se em jogos móveis; Microsoft lança HoloLens, marco em Realidade Misturada.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6217920" y="356616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rain_cyan.png" id="232" name="Google Shape;2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52760" y="3730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6"/>
          <p:cNvSpPr/>
          <p:nvPr/>
        </p:nvSpPr>
        <p:spPr>
          <a:xfrm>
            <a:off x="6400800" y="37033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E5CC"/>
                </a:solidFill>
                <a:latin typeface="Cambria"/>
                <a:ea typeface="Cambria"/>
                <a:cs typeface="Cambria"/>
                <a:sym typeface="Cambria"/>
              </a:rPr>
              <a:t>2020s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6400800" y="40507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RV/RA autônomas 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6400800" y="44074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1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3D1F0"/>
                </a:solidFill>
                <a:latin typeface="Calibri"/>
                <a:ea typeface="Calibri"/>
                <a:cs typeface="Calibri"/>
                <a:sym typeface="Calibri"/>
              </a:rPr>
              <a:t>Headsets standalone, hápticos avançados e IA generativa impulsionam o Metaverso corporativo.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425" y="344425"/>
            <a:ext cx="6169152" cy="6169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288" y="903538"/>
            <a:ext cx="8979427" cy="50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9650" y="1913849"/>
            <a:ext cx="5672924" cy="31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25" y="1962450"/>
            <a:ext cx="4794029" cy="31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6C63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Principais Áreas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822960" y="33832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Realidade Virtual Imersiva  ·  Realidade Aumentada  ·  Realidade Diminuída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Realidade Misturada  ·  Realidade Alternativa  ·  Metaverso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>
            <a:off x="868680" y="2286000"/>
            <a:ext cx="1828800" cy="0"/>
          </a:xfrm>
          <a:prstGeom prst="straightConnector1">
            <a:avLst/>
          </a:prstGeom>
          <a:noFill/>
          <a:ln cap="flat" cmpd="sng" w="381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400" y="152400"/>
            <a:ext cx="6553199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/>
          <p:nvPr/>
        </p:nvSpPr>
        <p:spPr>
          <a:xfrm>
            <a:off x="457200" y="64739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eadset_cyan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Virtual Imersiva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Substitui totalmente a percepção do mundo real por um ambiente sintético gerado por computador, isolando o usuário sensorialmente por meio de dispositivos dedicados.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Alto grau de imersão sensorial (visão, audição e, por vezes, tato)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Interação em tempo real com objetos e cenários virtuais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Utilizada quando se deseja substituir totalmente o ambiente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Dispositivos e usos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vrHeadset_white.png" id="299" name="Google Shape;2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Óculos HMD (Head-Mounted Display)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iCube_white.png" id="303" name="Google Shape;3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Salas CAVE de projeção imersiva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amepad_white.png" id="307" name="Google Shape;30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Simuladores de treinamento e voo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asses_cyan.png" id="318" name="Google Shape;3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Aumentada (RA)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Sobrepõe elementos virtuais (imagens, textos, objetos 3D) ao mundo real, em tempo real, enriquecendo a percepção do usuário sem substituí-la.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O mundo real continua sendo a base predominante da experiência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Elementos virtuais são registrados espacialmente sobre o ambiente físico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Costuma exigir menos hardware que a RV totalmente imersiva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Exemplos de aplicação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mobile_white.png" id="332" name="Google Shape;3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Aplicativos de navegação e jogos móveis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industry_white.png" id="336" name="Google Shape;3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Manuais de manutenção industrial com overlays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asses_white.png" id="340" name="Google Shape;3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Provadores virtuais de roupas e móveis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eyeSlash_cyan.png" id="351" name="Google Shape;3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4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Diminuída (RD)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Processo inverso à RA: remove ou oculta elementos indesejados do ambiente real percebido pelo usuário, filtrando informações visuais em tempo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Também chamada de "RA subtrativa" ou Diminished Reality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Usa reconstrução de cena para preencher a área removida de forma coerente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Reduz poluição visual ou informações irrelevantes/sensíveis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Exemplos de aplicação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mobile_white.png" id="365" name="Google Shape;3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Remoção de pessoas/objetos em fotos ao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eyeSlash_white.png" id="369" name="Google Shape;3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4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Ocultar anúncios ou obstáculos visuais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uilding_white.png" id="373" name="Google Shape;3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Edição de ambientes para arquitetura 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layers_cyan.png" id="384" name="Google Shape;3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Misturada (RM)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Combina elementos reais e virtuais que coexistem e interagem entre si em tempo real, com ancoragem espacial precisa — une o melhor da RV e da 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Objetos virtuais reagem à geometria e à luz do ambiente físico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Permite oclusão realista: objetos reais podem cobrir os virtuais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Corresponde à faixa central do continuum realidade–virtualidade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Exemplos de aplicação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asses_white.png" id="398" name="Google Shape;3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5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Microsoft HoloLens e dispositivos MR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cube_white.png" id="402" name="Google Shape;40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5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Design colaborativo de produtos em 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eartbeat_white.png" id="406" name="Google Shape;4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5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Cirurgias assistidas com sobreposição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theater_cyan.png" id="417" name="Google Shape;4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6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Alternativa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Experiência narrativa que mistura mídias reais e digitais (sites, redes sociais, telefonemas, pistas físicas) para contar uma história interativa, sem necessariamente usar dispositivos de RV/RA.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6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Também conhecida por ARG — Alternate Reality Game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Foco na narrativa transmídia e na colaboração entre participantes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O "virtual" está na trama e nas pistas, não obrigatoriamente em 3D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Exemplos de aplicação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puzzle_white.png" id="431" name="Google Shape;4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6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Jogos de investigação colaborativa (ARGs)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6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film_white.png" id="435" name="Google Shape;43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Campanhas de marketing transmídia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radcap_white.png" id="439" name="Google Shape;4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6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Experiências educativas gamificadas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>
            <a:off x="502920" y="292608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obe_cyan.png" id="450" name="Google Shape;4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7"/>
          <p:cNvSpPr/>
          <p:nvPr/>
        </p:nvSpPr>
        <p:spPr>
          <a:xfrm>
            <a:off x="1508760" y="301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ÁREA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1463040" y="56692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Metaverso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640080" y="173736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Rede de ambientes virtuais 3D persistentes e interconectados, acessados via RV/RA, onde usuários interagem por avatares em tempo real, com economia e identidade próprias.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640080" y="3493008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7"/>
          <p:cNvSpPr/>
          <p:nvPr/>
        </p:nvSpPr>
        <p:spPr>
          <a:xfrm>
            <a:off x="914400" y="33375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Persistência: o mundo continua existindo mesmo sem o usuário conectado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7"/>
          <p:cNvSpPr/>
          <p:nvPr/>
        </p:nvSpPr>
        <p:spPr>
          <a:xfrm>
            <a:off x="914400" y="386791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Interoperabilidade entre plataformas, identidades e ativos digitais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7"/>
          <p:cNvSpPr/>
          <p:nvPr/>
        </p:nvSpPr>
        <p:spPr>
          <a:xfrm>
            <a:off x="914400" y="439826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Convergência de RV, RA, blockchain, IA e redes sociais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7452360" y="1737360"/>
            <a:ext cx="4069080" cy="4434840"/>
          </a:xfrm>
          <a:prstGeom prst="roundRect">
            <a:avLst>
              <a:gd fmla="val 2247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7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Características-chave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7726680" y="251460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7863840" y="266090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users_white.png" id="464" name="Google Shape;4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4" y="27614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7"/>
          <p:cNvSpPr/>
          <p:nvPr/>
        </p:nvSpPr>
        <p:spPr>
          <a:xfrm>
            <a:off x="8366760" y="25146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Avatares e presença social contínua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7726680" y="333756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7863840" y="348386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obe_white.png" id="468" name="Google Shape;46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4424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7"/>
          <p:cNvSpPr/>
          <p:nvPr/>
        </p:nvSpPr>
        <p:spPr>
          <a:xfrm>
            <a:off x="8366760" y="3337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Economia própria (ativos digitais)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7726680" y="4160520"/>
            <a:ext cx="352044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7"/>
          <p:cNvSpPr/>
          <p:nvPr/>
        </p:nvSpPr>
        <p:spPr>
          <a:xfrm>
            <a:off x="7863840" y="430682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layers_white.png" id="472" name="Google Shape;47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4" y="44074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7"/>
          <p:cNvSpPr/>
          <p:nvPr/>
        </p:nvSpPr>
        <p:spPr>
          <a:xfrm>
            <a:off x="8366760" y="416052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Interconexão entre múltiplos mundos virtuais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Quadro Comparativo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Como cada área se posiciona entre o mundo real e o mundo virtual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640080" y="1691640"/>
            <a:ext cx="10881360" cy="603504"/>
          </a:xfrm>
          <a:prstGeom prst="rect">
            <a:avLst/>
          </a:prstGeom>
          <a:solidFill>
            <a:srgbClr val="1B1B3A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777240" y="169164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3520440" y="1691640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predominante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6172200" y="1691640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Interação com 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9006840" y="1691640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Foco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640080" y="2295144"/>
            <a:ext cx="10881360" cy="603504"/>
          </a:xfrm>
          <a:prstGeom prst="rect">
            <a:avLst/>
          </a:prstGeom>
          <a:solidFill>
            <a:srgbClr val="EDEBFA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777240" y="2295144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RV Imersiva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3520440" y="229514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Mundo virtual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6172200" y="2295144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Nenhuma (substituição total)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9006840" y="229514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Simulação e imersão sensorial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640080" y="2898648"/>
            <a:ext cx="1088136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8"/>
          <p:cNvSpPr/>
          <p:nvPr/>
        </p:nvSpPr>
        <p:spPr>
          <a:xfrm>
            <a:off x="777240" y="2898648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Realidade Aumentada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3520440" y="2898648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Mundo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6172200" y="2898648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Alta — sobreposição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9006840" y="2898648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Enriquecer a percepção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640080" y="3502152"/>
            <a:ext cx="10881360" cy="603504"/>
          </a:xfrm>
          <a:prstGeom prst="rect">
            <a:avLst/>
          </a:prstGeom>
          <a:solidFill>
            <a:srgbClr val="EDEBFA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8"/>
          <p:cNvSpPr/>
          <p:nvPr/>
        </p:nvSpPr>
        <p:spPr>
          <a:xfrm>
            <a:off x="777240" y="3502152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Realidade Diminuída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3520440" y="3502152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Mundo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6172200" y="3502152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Alta — subtração de elementos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9006840" y="3502152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Filtrar/ocultar informação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640080" y="4105656"/>
            <a:ext cx="1088136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777240" y="4105656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Realidade Misturada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3520440" y="4105656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Real + virtual integrados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6172200" y="4105656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Muito alta — objetos coexistem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9006840" y="4105656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Coexistência e ancoragem 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640080" y="4709160"/>
            <a:ext cx="10881360" cy="603504"/>
          </a:xfrm>
          <a:prstGeom prst="rect">
            <a:avLst/>
          </a:prstGeom>
          <a:solidFill>
            <a:srgbClr val="EDEBFA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777240" y="470916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Realidade Alternativa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3520440" y="4709160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Mundo real + narrativa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6172200" y="4709160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Variável — pistas multimídia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9006840" y="4709160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Narrativa transmídia interativa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640080" y="5312664"/>
            <a:ext cx="1088136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777240" y="5312664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Metaverso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3520440" y="531266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Mundo virtual persistente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6172200" y="5312664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Mediada por avatar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9006840" y="531266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Presença social e economia digital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9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Aplicações Práticas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Onde a RV/RA já geram impacto real, em diferentes setores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radcap_white.png" id="529" name="Google Shape;5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2128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9"/>
          <p:cNvSpPr/>
          <p:nvPr/>
        </p:nvSpPr>
        <p:spPr>
          <a:xfrm>
            <a:off x="1554480" y="199339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Educação e Treinamento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868680" y="269748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Simulações práticas seguras, aulas imersivas e treinamento técnico à distância.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4297680" y="182880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4526280" y="205740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eartbeat_white.png" id="534" name="Google Shape;5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728" y="22128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9"/>
          <p:cNvSpPr/>
          <p:nvPr/>
        </p:nvSpPr>
        <p:spPr>
          <a:xfrm>
            <a:off x="5212080" y="199339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Saúde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4526280" y="269748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Cirurgias assistidas, reabilitação motora, terapia de exposição e ensino médico.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7955280" y="182880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8183880" y="205740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industry_white.png" id="539" name="Google Shape;53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9328" y="22128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9"/>
          <p:cNvSpPr/>
          <p:nvPr/>
        </p:nvSpPr>
        <p:spPr>
          <a:xfrm>
            <a:off x="8869680" y="199339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Indústria 4.0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8183880" y="269748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Manutenção guiada por RA, prototipagem virtual e treinamento de operadores.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film_white.png" id="544" name="Google Shape;54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128" y="4178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9"/>
          <p:cNvSpPr/>
          <p:nvPr/>
        </p:nvSpPr>
        <p:spPr>
          <a:xfrm>
            <a:off x="1554480" y="395935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Entretenimento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868680" y="466344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Jogos imersivos, cinema interativo e experiências de realidade alternativa.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4297680" y="379476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uilding_white.png" id="549" name="Google Shape;54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1728" y="4178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9"/>
          <p:cNvSpPr/>
          <p:nvPr/>
        </p:nvSpPr>
        <p:spPr>
          <a:xfrm>
            <a:off x="5212080" y="395935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Arquitetura 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4526280" y="466344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Visualização de projetos em escala real antes da construção.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7955280" y="3794760"/>
            <a:ext cx="3429000" cy="1691640"/>
          </a:xfrm>
          <a:prstGeom prst="roundRect">
            <a:avLst>
              <a:gd fmla="val 4865" name="adj"/>
            </a:avLst>
          </a:prstGeom>
          <a:solidFill>
            <a:srgbClr val="F6F5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8183880" y="40233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users_white.png" id="554" name="Google Shape;55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9328" y="4178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9"/>
          <p:cNvSpPr/>
          <p:nvPr/>
        </p:nvSpPr>
        <p:spPr>
          <a:xfrm>
            <a:off x="8869680" y="395935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Colaboração remota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8183880" y="466344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Reuniões e design colaborativo em ambientes virtuais compartilhados.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3A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0E5C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rocket_cyan.png" id="565" name="Google Shape;5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0"/>
          <p:cNvSpPr/>
          <p:nvPr/>
        </p:nvSpPr>
        <p:spPr>
          <a:xfrm>
            <a:off x="128016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Futuro da Área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128016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Tendências que devem moldar a próxima década de RV/RA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640080" y="16916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chip_cyan.png" id="569" name="Google Shape;56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1874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0"/>
          <p:cNvSpPr/>
          <p:nvPr/>
        </p:nvSpPr>
        <p:spPr>
          <a:xfrm>
            <a:off x="841248" y="23134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mais leve e acessível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841248" y="27706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Dispositivos standalone, com maior autonomia e menor custo de entrada.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4251960" y="16916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rain_cyan.png" id="573" name="Google Shape;5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3128" y="1874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0"/>
          <p:cNvSpPr/>
          <p:nvPr/>
        </p:nvSpPr>
        <p:spPr>
          <a:xfrm>
            <a:off x="4453128" y="23134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generativa integrada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0"/>
          <p:cNvSpPr/>
          <p:nvPr/>
        </p:nvSpPr>
        <p:spPr>
          <a:xfrm>
            <a:off x="4453128" y="27706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Criação automática de ambientes, avatares e conteúdo personalizado em tempo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7863840" y="16916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hand_cyan.png" id="577" name="Google Shape;57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5008" y="1874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0"/>
          <p:cNvSpPr/>
          <p:nvPr/>
        </p:nvSpPr>
        <p:spPr>
          <a:xfrm>
            <a:off x="8065008" y="23134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Interfaces hápticas avançadas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8065008" y="27706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Feedback tátil mais realista, ampliando a sensação de presença física.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640080" y="35204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globe_cyan.png" id="581" name="Google Shape;5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248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0"/>
          <p:cNvSpPr/>
          <p:nvPr/>
        </p:nvSpPr>
        <p:spPr>
          <a:xfrm>
            <a:off x="841248" y="41422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Metaverso corporativo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841248" y="45994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Colaboração remota, treinamento e comércio em ambientes virtuais persistentes.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4251960" y="35204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mobile_cyan.png" id="585" name="Google Shape;58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3128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0"/>
          <p:cNvSpPr/>
          <p:nvPr/>
        </p:nvSpPr>
        <p:spPr>
          <a:xfrm>
            <a:off x="4453128" y="41422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Conectividade 5G/6G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4453128" y="45994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Streaming de ambientes complexos com baixa latência, viabilizando RV em nuvem.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7863840" y="3520440"/>
            <a:ext cx="3383280" cy="1600200"/>
          </a:xfrm>
          <a:prstGeom prst="roundRect">
            <a:avLst>
              <a:gd fmla="val 5143" name="adj"/>
            </a:avLst>
          </a:prstGeom>
          <a:solidFill>
            <a:srgbClr val="24244A"/>
          </a:solidFill>
          <a:ln cap="flat" cmpd="sng" w="12700">
            <a:solidFill>
              <a:srgbClr val="3A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compass_cyan.png" id="589" name="Google Shape;58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5008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0"/>
          <p:cNvSpPr/>
          <p:nvPr/>
        </p:nvSpPr>
        <p:spPr>
          <a:xfrm>
            <a:off x="8065008" y="41422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Acessibilidade e inclusão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8065008" y="4599432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6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C6EE"/>
                </a:solidFill>
                <a:latin typeface="Calibri"/>
                <a:ea typeface="Calibri"/>
                <a:cs typeface="Calibri"/>
                <a:sym typeface="Calibri"/>
              </a:rPr>
              <a:t>Interfaces adaptadas para diferentes públicos e necessidades, ampliando o alcance.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7C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1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6C63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book_navy.png" id="600" name="Google Shape;6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48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1"/>
          <p:cNvSpPr/>
          <p:nvPr/>
        </p:nvSpPr>
        <p:spPr>
          <a:xfrm>
            <a:off x="1234440" y="548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Referência Principal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640080" y="1325880"/>
            <a:ext cx="1088136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4E2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1"/>
          <p:cNvSpPr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B3A"/>
                </a:solidFill>
                <a:latin typeface="Calibri"/>
                <a:ea typeface="Calibri"/>
                <a:cs typeface="Calibri"/>
                <a:sym typeface="Calibri"/>
              </a:rPr>
              <a:t>TORI, Romero; HOUNSELL, Marcelo da Silva.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1"/>
          <p:cNvSpPr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Aumentada. Porto Alegre: Sociedade Brasileira de Computação (SBC).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914400" y="22402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Obra de referência da área no Brasil, base conceitual e histórica desta apresentação.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640080" y="32918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B3A"/>
                </a:solidFill>
                <a:latin typeface="Cambria"/>
                <a:ea typeface="Cambria"/>
                <a:cs typeface="Cambria"/>
                <a:sym typeface="Cambria"/>
              </a:rPr>
              <a:t>Obrigado(a)!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Perguntas, dúvidas ou sugestões são muito bem-vindas.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fmla="val 6452" name="adj"/>
            </a:avLst>
          </a:prstGeom>
          <a:solidFill>
            <a:srgbClr val="1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vr_deck/icons/question_cyan.png" id="609" name="Google Shape;60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5074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1"/>
          <p:cNvSpPr/>
          <p:nvPr/>
        </p:nvSpPr>
        <p:spPr>
          <a:xfrm>
            <a:off x="1737360" y="4846320"/>
            <a:ext cx="9509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4E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4E2F7"/>
                </a:solidFill>
                <a:latin typeface="Calibri"/>
                <a:ea typeface="Calibri"/>
                <a:cs typeface="Calibri"/>
                <a:sym typeface="Calibri"/>
              </a:rPr>
              <a:t>Recapitulando: RV, RA, RD, RM, Realidade Alternativa e Metaverso são pontos de um mesmo continuum entre o real e o virtual — cada um com seu propósito e contexto de uso.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Introdução à Realidade Virtual e Aumentada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