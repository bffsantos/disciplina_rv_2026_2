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1B255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914400"/>
            <a:ext cx="4114800" cy="4114800"/>
          </a:xfrm>
          <a:prstGeom prst="ellipse">
            <a:avLst/>
          </a:prstGeom>
          <a:ln w="19050">
            <a:solidFill>
              <a:srgbClr val="3ED6C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ln w="15875">
            <a:solidFill>
              <a:srgbClr val="FF6F5E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E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REALIDADE VIRTUAL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E/P/S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Entrada, Processamento e Saída: como sentidos humanos e dispositivos constroem a imersão, a interação e o envolvimento em ambientes virtuais.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080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Tori, R. — Introdução à Realidade Virtual e Aumentada (SBC)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por trás da imersão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sistema de Realidade Virtual funciona como um ciclo contínuo entre a pessoa e a máquina.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3818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55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822960" cy="822960"/>
          </a:xfrm>
          <a:prstGeom prst="ellipse">
            <a:avLst/>
          </a:prstGeom>
          <a:solidFill>
            <a:srgbClr val="3ED6C6"/>
          </a:solidFill>
          <a:ln/>
        </p:spPr>
      </p:sp>
      <p:pic>
        <p:nvPicPr>
          <p:cNvPr id="6" name="Image 0" descr="icon_vi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5374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3756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703320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Sentidos → Dispositivos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4114800"/>
            <a:ext cx="27837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percebe e age através dos cinco sentidos, e essas ações são captadas por dispositivos: mouse, teclado, óculus, celular, luvas, sensores de movimento.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082186" y="3383280"/>
            <a:ext cx="301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83938" y="1965960"/>
            <a:ext cx="3423818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557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3978" y="2331720"/>
            <a:ext cx="822960" cy="822960"/>
          </a:xfrm>
          <a:prstGeom prst="ellipse">
            <a:avLst/>
          </a:prstGeom>
          <a:solidFill>
            <a:srgbClr val="FF6F5E"/>
          </a:solidFill>
          <a:ln/>
        </p:spPr>
      </p:sp>
      <p:pic>
        <p:nvPicPr>
          <p:cNvPr id="13" name="Image 1" descr="icon_softw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718" y="25374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3978" y="333756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PROCESSAMENTO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03978" y="3703320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03978" y="4114800"/>
            <a:ext cx="27837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software aplica lógica, regras e validações sobre os dados de entrada, construindo e atualizando o "mundo" virtual em tempo real.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826045" y="3383280"/>
            <a:ext cx="301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127797" y="1965960"/>
            <a:ext cx="3423818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557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47837" y="2331720"/>
            <a:ext cx="822960" cy="82296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20" name="Image 2" descr="icon_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577" y="253746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47837" y="333756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47837" y="3703320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ao usuário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447837" y="4114800"/>
            <a:ext cx="27837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devolve estímulos ao usuário — imagem, som, vibração — gerando a sensação de imersão, interação e envolvimento.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40080" y="5623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Tori, Kirner &amp; Siscoutto, dispositivos de entrada e saída são a “interface avançada” que permite ao usuário sair de uma interação passiva e mergulhar em um mundo sintético.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· Parte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começa nos sentidos humanos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é a primeira interface. É por meio dos cinco sentidos que percebemos e reagimos a qualquer ambiente — real ou virtual.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1B2557"/>
          </a:solidFill>
          <a:ln/>
        </p:spPr>
      </p:sp>
      <p:sp>
        <p:nvSpPr>
          <p:cNvPr id="6" name="Shape 4"/>
          <p:cNvSpPr/>
          <p:nvPr/>
        </p:nvSpPr>
        <p:spPr>
          <a:xfrm>
            <a:off x="1202436" y="2743200"/>
            <a:ext cx="960120" cy="960120"/>
          </a:xfrm>
          <a:prstGeom prst="ellipse">
            <a:avLst/>
          </a:prstGeom>
          <a:solidFill>
            <a:srgbClr val="3ED6C6"/>
          </a:solidFill>
          <a:ln/>
        </p:spPr>
      </p:sp>
      <p:pic>
        <p:nvPicPr>
          <p:cNvPr id="7" name="Image 0" descr="icon_vi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466" y="2983230"/>
            <a:ext cx="480060" cy="4800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8862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429768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Sentido dominante em RV; direciona telas, HMDs e estereoscopia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62072" y="242316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1B2557"/>
          </a:solidFill>
          <a:ln/>
        </p:spPr>
      </p:sp>
      <p:sp>
        <p:nvSpPr>
          <p:cNvPr id="11" name="Shape 8"/>
          <p:cNvSpPr/>
          <p:nvPr/>
        </p:nvSpPr>
        <p:spPr>
          <a:xfrm>
            <a:off x="3424428" y="2743200"/>
            <a:ext cx="960120" cy="960120"/>
          </a:xfrm>
          <a:prstGeom prst="ellipse">
            <a:avLst/>
          </a:prstGeom>
          <a:solidFill>
            <a:srgbClr val="FF6F5E"/>
          </a:solidFill>
          <a:ln/>
        </p:spPr>
      </p:sp>
      <p:pic>
        <p:nvPicPr>
          <p:cNvPr id="12" name="Image 1" descr="icon_audic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458" y="298323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71800" y="38862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Audição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026664" y="429768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 espacial reforça a sensação de presença no ambiente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84064" y="242316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1B2557"/>
          </a:solidFill>
          <a:ln/>
        </p:spPr>
      </p:sp>
      <p:sp>
        <p:nvSpPr>
          <p:cNvPr id="16" name="Shape 12"/>
          <p:cNvSpPr/>
          <p:nvPr/>
        </p:nvSpPr>
        <p:spPr>
          <a:xfrm>
            <a:off x="5646420" y="2743200"/>
            <a:ext cx="960120" cy="960120"/>
          </a:xfrm>
          <a:prstGeom prst="ellipse">
            <a:avLst/>
          </a:prstGeom>
          <a:solidFill>
            <a:srgbClr val="3ED6C6"/>
          </a:solidFill>
          <a:ln/>
        </p:spPr>
      </p:sp>
      <p:pic>
        <p:nvPicPr>
          <p:cNvPr id="17" name="Image 2" descr="icon_ta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0" y="2983230"/>
            <a:ext cx="480060" cy="4800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93792" y="38862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248656" y="429768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feedback, luvas hápticas e vibração simulam contato físico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306056" y="242316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1B2557"/>
          </a:solidFill>
          <a:ln/>
        </p:spPr>
      </p:sp>
      <p:sp>
        <p:nvSpPr>
          <p:cNvPr id="21" name="Shape 16"/>
          <p:cNvSpPr/>
          <p:nvPr/>
        </p:nvSpPr>
        <p:spPr>
          <a:xfrm>
            <a:off x="7868412" y="2743200"/>
            <a:ext cx="960120" cy="960120"/>
          </a:xfrm>
          <a:prstGeom prst="ellipse">
            <a:avLst/>
          </a:prstGeom>
          <a:solidFill>
            <a:srgbClr val="FF6F5E"/>
          </a:solidFill>
          <a:ln/>
        </p:spPr>
      </p:sp>
      <p:pic>
        <p:nvPicPr>
          <p:cNvPr id="22" name="Image 3" descr="icon_olfat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442" y="2983230"/>
            <a:ext cx="480060" cy="4800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15784" y="38862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Olfato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470648" y="429768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pouco explorado, mas usado em simulações de alta imersão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528048" y="242316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1B2557"/>
          </a:solidFill>
          <a:ln/>
        </p:spPr>
      </p:sp>
      <p:sp>
        <p:nvSpPr>
          <p:cNvPr id="26" name="Shape 20"/>
          <p:cNvSpPr/>
          <p:nvPr/>
        </p:nvSpPr>
        <p:spPr>
          <a:xfrm>
            <a:off x="10090404" y="2743200"/>
            <a:ext cx="960120" cy="960120"/>
          </a:xfrm>
          <a:prstGeom prst="ellipse">
            <a:avLst/>
          </a:prstGeom>
          <a:solidFill>
            <a:srgbClr val="3ED6C6"/>
          </a:solidFill>
          <a:ln/>
        </p:spPr>
      </p:sp>
      <p:pic>
        <p:nvPicPr>
          <p:cNvPr id="27" name="Image 4" descr="icon_pala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0434" y="2983230"/>
            <a:ext cx="480060" cy="4800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37776" y="38862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Paladar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9692640" y="429768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Sentido menos explorado tecnicamente em sistemas de RV atuais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40080" y="5989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E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sentidos um sistema de RV consegue estimular de forma coerente, maior é a sensação de imersão do usuário.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· Parte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sentidos aos dispositivos de entrada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movimentos e ações do corpo precisam ser capturados por hardware para chegar ao computador.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22144" cy="3108960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5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2532" y="2514600"/>
            <a:ext cx="777240" cy="77724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7" name="Image 0" descr="icon_m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842" y="270891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520440"/>
            <a:ext cx="224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Mouse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2156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clássica não imersiva: controla cursores e comandos no ambiente virtual.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36544" y="2194560"/>
            <a:ext cx="2522144" cy="3108960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57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08996" y="2514600"/>
            <a:ext cx="777240" cy="77724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12" name="Image 1" descr="icon_tecl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306" y="270891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3704" y="3520440"/>
            <a:ext cx="224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Teclado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19424" y="4069080"/>
            <a:ext cx="2156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essencial em RV não imersiva e em interfaces híbridas de controle.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33008" y="2194560"/>
            <a:ext cx="2522144" cy="3108960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57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05459" y="2514600"/>
            <a:ext cx="777240" cy="77724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17" name="Image 2" descr="icon_ocul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769" y="270891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0168" y="3520440"/>
            <a:ext cx="224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Óculus / HMD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15888" y="4069080"/>
            <a:ext cx="2156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posição e rotação da cabeça; entrada e saída (visual) ao mesmo tempo.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29471" y="2194560"/>
            <a:ext cx="2522144" cy="3108960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57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01923" y="2514600"/>
            <a:ext cx="777240" cy="77724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22" name="Image 3" descr="icon_celu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233" y="2708910"/>
            <a:ext cx="388620" cy="3886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66631" y="3520440"/>
            <a:ext cx="224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Celular / Sensores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12351" y="4069080"/>
            <a:ext cx="2156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Câmera, giroscópio, GPS e LiDAR viram entrada em RA/RV mobile.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AF0FF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56235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o livro de Romero Tori: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dispositivos de entrada e saída formam a “interface avançada ao usuário” — sem eles, não há como o computador captar as ações do corpo nem devolver estímulos que criem a sensação de presença.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software que constrói o mundo virtual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aqui que os dados captados na entrada ganham sentido. O software aplica lógica, regras e validações, transformando cliques, gestos e movimentos em mudanças reais dentro do ambiente virtual.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1B2557"/>
          </a:solidFill>
          <a:ln/>
        </p:spPr>
      </p:sp>
      <p:pic>
        <p:nvPicPr>
          <p:cNvPr id="6" name="Image 0" descr="icon_log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3369564"/>
            <a:ext cx="301752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ln w="19050">
            <a:solidFill>
              <a:srgbClr val="FF6F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321868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da aplicação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35387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física, colisão, movimento e comportamento dos objetos virtuais.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1B2557"/>
          </a:solidFill>
          <a:ln/>
        </p:spPr>
      </p:sp>
      <p:pic>
        <p:nvPicPr>
          <p:cNvPr id="11" name="Image 1" descr="icon_conf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4238244"/>
            <a:ext cx="301752" cy="30175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ln w="19050">
            <a:solidFill>
              <a:srgbClr val="FF6F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371600" y="40873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371600" y="44074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limites, permissões e coerência das ações do usuário no mundo virtual.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4983480"/>
            <a:ext cx="548640" cy="548640"/>
          </a:xfrm>
          <a:prstGeom prst="ellipse">
            <a:avLst/>
          </a:prstGeom>
          <a:solidFill>
            <a:srgbClr val="1B2557"/>
          </a:solidFill>
          <a:ln/>
        </p:spPr>
      </p:sp>
      <p:pic>
        <p:nvPicPr>
          <p:cNvPr id="16" name="Image 2" descr="icon_softw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5106924"/>
            <a:ext cx="301752" cy="30175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40080" y="4983480"/>
            <a:ext cx="548640" cy="548640"/>
          </a:xfrm>
          <a:prstGeom prst="ellipse">
            <a:avLst/>
          </a:prstGeom>
          <a:ln w="19050">
            <a:solidFill>
              <a:srgbClr val="FF6F5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371600" y="49560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do ambiente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71600" y="52760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 e atualiza o "mundo" em tempo real, quadro a quadro.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26480" y="1600200"/>
            <a:ext cx="5394960" cy="4343400"/>
          </a:xfrm>
          <a:prstGeom prst="roundRect">
            <a:avLst>
              <a:gd name="adj" fmla="val 2947"/>
            </a:avLst>
          </a:prstGeom>
          <a:solidFill>
            <a:srgbClr val="1B2557"/>
          </a:solidFill>
          <a:ln/>
        </p:spPr>
      </p:sp>
      <p:sp>
        <p:nvSpPr>
          <p:cNvPr id="21" name="Text 16"/>
          <p:cNvSpPr/>
          <p:nvPr/>
        </p:nvSpPr>
        <p:spPr>
          <a:xfrm>
            <a:off x="6583680" y="2011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USUÁRIO, O SOFTWARE ENTREGA: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583680" y="2606040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/>
        </p:spPr>
      </p:sp>
      <p:sp>
        <p:nvSpPr>
          <p:cNvPr id="23" name="Text 18"/>
          <p:cNvSpPr/>
          <p:nvPr/>
        </p:nvSpPr>
        <p:spPr>
          <a:xfrm>
            <a:off x="6858000" y="27249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D6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Imersão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858000" y="3063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sensação de estar dentro do ambiente virtual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583680" y="3685032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/>
        </p:spPr>
      </p:sp>
      <p:sp>
        <p:nvSpPr>
          <p:cNvPr id="26" name="Text 21"/>
          <p:cNvSpPr/>
          <p:nvPr/>
        </p:nvSpPr>
        <p:spPr>
          <a:xfrm>
            <a:off x="6858000" y="38039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D6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Interação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858000" y="4142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manipular objetos e o próprio mundo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583680" y="4764024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/>
        </p:spPr>
      </p:sp>
      <p:sp>
        <p:nvSpPr>
          <p:cNvPr id="29" name="Text 24"/>
          <p:cNvSpPr/>
          <p:nvPr/>
        </p:nvSpPr>
        <p:spPr>
          <a:xfrm>
            <a:off x="6858000" y="488289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D6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Envolvimento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858000" y="52212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de engajamento com a experiência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retorno que o usuário sente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devolve ao usuário estímulos sensoriais processados — fechando o ciclo entre corpo e máquina.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381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557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68880"/>
            <a:ext cx="777240" cy="77724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7" name="Image 0" descr="icon_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42900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794760"/>
            <a:ext cx="27837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Monitores, HMDs e projeções estereoscópicas devolvem a cena renderizada em tempo real.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3938" y="2148840"/>
            <a:ext cx="342381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557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3978" y="2468880"/>
            <a:ext cx="777240" cy="777240"/>
          </a:xfrm>
          <a:prstGeom prst="ellipse">
            <a:avLst/>
          </a:prstGeom>
          <a:solidFill>
            <a:srgbClr val="FF6F5E"/>
          </a:solidFill>
          <a:ln/>
        </p:spPr>
      </p:sp>
      <p:pic>
        <p:nvPicPr>
          <p:cNvPr id="12" name="Image 1" descr="icon_s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288" y="266319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3978" y="342900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Sonora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03978" y="3794760"/>
            <a:ext cx="27837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 espacial reforça profundidade, direção e presença dentro do ambiente.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27797" y="2148840"/>
            <a:ext cx="342381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557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47837" y="2468880"/>
            <a:ext cx="777240" cy="777240"/>
          </a:xfrm>
          <a:prstGeom prst="ellipse">
            <a:avLst/>
          </a:prstGeom>
          <a:solidFill>
            <a:srgbClr val="1E9E8C"/>
          </a:solidFill>
          <a:ln/>
        </p:spPr>
      </p:sp>
      <p:pic>
        <p:nvPicPr>
          <p:cNvPr id="17" name="Image 2" descr="icon_hapti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147" y="266319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47837" y="342900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Háptica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47837" y="3794760"/>
            <a:ext cx="27837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Vibração e force feedback simulam contato físico com objetos virtuais.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21A3E"/>
          </a:solidFill>
          <a:ln/>
        </p:spPr>
      </p:sp>
      <p:sp>
        <p:nvSpPr>
          <p:cNvPr id="21" name="Shape 16"/>
          <p:cNvSpPr/>
          <p:nvPr/>
        </p:nvSpPr>
        <p:spPr>
          <a:xfrm>
            <a:off x="960120" y="5349240"/>
            <a:ext cx="685800" cy="685800"/>
          </a:xfrm>
          <a:prstGeom prst="ellipse">
            <a:avLst/>
          </a:prstGeom>
          <a:solidFill>
            <a:srgbClr val="3ED6C6"/>
          </a:solidFill>
          <a:ln/>
        </p:spPr>
      </p:sp>
      <p:pic>
        <p:nvPicPr>
          <p:cNvPr id="22" name="Image 3" descr="icon_cicl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0" y="5520690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74520" y="5212080"/>
            <a:ext cx="9418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se fecha e recomeça: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(imagem, som, vibração) é percebida pelos sentidos do usuário, que reage e gera uma nova entrada — é esse laço contínuo entre percepção e ação que sustenta a sensação de presença em RV.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ciclo E/P/S entrega ao usuário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3818" cy="3246120"/>
          </a:xfrm>
          <a:prstGeom prst="roundRect">
            <a:avLst>
              <a:gd name="adj" fmla="val 3380"/>
            </a:avLst>
          </a:prstGeom>
          <a:solidFill>
            <a:srgbClr val="1B2557"/>
          </a:solidFill>
          <a:ln/>
        </p:spPr>
      </p:sp>
      <p:sp>
        <p:nvSpPr>
          <p:cNvPr id="5" name="Shape 3"/>
          <p:cNvSpPr/>
          <p:nvPr/>
        </p:nvSpPr>
        <p:spPr>
          <a:xfrm>
            <a:off x="1894789" y="2057400"/>
            <a:ext cx="914400" cy="914400"/>
          </a:xfrm>
          <a:prstGeom prst="ellipse">
            <a:avLst/>
          </a:prstGeom>
          <a:solidFill>
            <a:srgbClr val="3ED6C6"/>
          </a:solidFill>
          <a:ln/>
        </p:spPr>
      </p:sp>
      <p:pic>
        <p:nvPicPr>
          <p:cNvPr id="6" name="Image 0" descr="icon_imer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389" y="2286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Imersão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657600"/>
            <a:ext cx="27837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Sensação de estar dentro do ambiente virtual, isolado (ou não) das interferências do mundo real.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3938" y="1691640"/>
            <a:ext cx="3423818" cy="3246120"/>
          </a:xfrm>
          <a:prstGeom prst="roundRect">
            <a:avLst>
              <a:gd name="adj" fmla="val 3380"/>
            </a:avLst>
          </a:prstGeom>
          <a:solidFill>
            <a:srgbClr val="1B2557"/>
          </a:solidFill>
          <a:ln/>
        </p:spPr>
      </p:sp>
      <p:sp>
        <p:nvSpPr>
          <p:cNvPr id="10" name="Shape 7"/>
          <p:cNvSpPr/>
          <p:nvPr/>
        </p:nvSpPr>
        <p:spPr>
          <a:xfrm>
            <a:off x="5638648" y="2057400"/>
            <a:ext cx="914400" cy="914400"/>
          </a:xfrm>
          <a:prstGeom prst="ellipse">
            <a:avLst/>
          </a:prstGeom>
          <a:solidFill>
            <a:srgbClr val="FF6F5E"/>
          </a:solidFill>
          <a:ln/>
        </p:spPr>
      </p:sp>
      <p:pic>
        <p:nvPicPr>
          <p:cNvPr id="11" name="Image 1" descr="icon_interac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48" y="22860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6818" y="320040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Interação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3978" y="3657600"/>
            <a:ext cx="27837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do sistema de detectar as ações do usuário e modificar o mundo virtual instantaneamente.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27797" y="1691640"/>
            <a:ext cx="3423818" cy="3246120"/>
          </a:xfrm>
          <a:prstGeom prst="roundRect">
            <a:avLst>
              <a:gd name="adj" fmla="val 3380"/>
            </a:avLst>
          </a:prstGeom>
          <a:solidFill>
            <a:srgbClr val="1B2557"/>
          </a:solidFill>
          <a:ln/>
        </p:spPr>
      </p:sp>
      <p:sp>
        <p:nvSpPr>
          <p:cNvPr id="15" name="Shape 11"/>
          <p:cNvSpPr/>
          <p:nvPr/>
        </p:nvSpPr>
        <p:spPr>
          <a:xfrm>
            <a:off x="9382506" y="2057400"/>
            <a:ext cx="914400" cy="914400"/>
          </a:xfrm>
          <a:prstGeom prst="ellipse">
            <a:avLst/>
          </a:prstGeom>
          <a:solidFill>
            <a:srgbClr val="8CA6FF"/>
          </a:solidFill>
          <a:ln/>
        </p:spPr>
      </p:sp>
      <p:pic>
        <p:nvPicPr>
          <p:cNvPr id="16" name="Image 2" descr="icon_envolvimen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106" y="2286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10677" y="320040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Envolvimento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47837" y="3657600"/>
            <a:ext cx="27837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de engajamento e motivação do usuário com a atividade — pode ser passivo ou ativo.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40080" y="5166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E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Tori, Kirner &amp; Siscoutto (2006) definem esses três conceitos como os pilares que diferenciam a Realidade Virtual de uma simples interface gráfica.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E/P/S em tecnologias conhecidas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46120" y="1828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37960" y="18288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64040" y="18288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19072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75120" y="1783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0" y="1783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423160"/>
            <a:ext cx="10881360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231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Pokémon GO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83280" y="242316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câmera do celular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75120" y="24231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Geolocalização e reconhecimento de cena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0" y="242316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Sobreposição de personagens no mundo real (tela)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10881360" cy="1234440"/>
          </a:xfrm>
          <a:prstGeom prst="rect">
            <a:avLst/>
          </a:prstGeom>
          <a:solidFill>
            <a:srgbClr val="EA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5760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83280" y="365760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RGB + sensor infravermelho de profundidade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75120" y="365760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Reconstrói o esqueleto e os gestos do corpo em tempo real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0" y="365760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Avatar/jogo reage aos movimentos do jogador na tela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89204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LiDAR (iPhone/iPad)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383280" y="489204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Pulsos de laser medindo tempo de retorno ("time of flight")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75120" y="489204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nuvem de pontos e mapeia a geometria do ambiente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01200" y="489204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virtuais de RA ancorados com precisão no espaço real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APROFUNDAR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e vídeos sugeridos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B255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01952"/>
            <a:ext cx="640080" cy="640080"/>
          </a:xfrm>
          <a:prstGeom prst="ellipse">
            <a:avLst/>
          </a:prstGeom>
          <a:solidFill>
            <a:srgbClr val="3ED6C6"/>
          </a:solidFill>
          <a:ln/>
        </p:spPr>
      </p:sp>
      <p:pic>
        <p:nvPicPr>
          <p:cNvPr id="6" name="Image 0" descr="icon_liv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06197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28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TORI, Romero; HOUNSELL, Marcelo (org.).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Realidade Virtual e Aumentada. Porto Alegre: Editora SBC.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737360" y="22402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de referência: "Dispositivos de Entrada e Saída para Sistemas de Realidade Virtual" — base conceitual do ciclo E/P/S.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 SUGERIDOS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520440"/>
            <a:ext cx="3454298" cy="1691640"/>
          </a:xfrm>
          <a:prstGeom prst="roundRect">
            <a:avLst>
              <a:gd name="adj" fmla="val 5405"/>
            </a:avLst>
          </a:prstGeom>
          <a:solidFill>
            <a:srgbClr val="1B2557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70332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o Kinect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114800"/>
            <a:ext cx="299709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infravermelho + RGB reconstruindo o corpo em tempo real — ótimo exemplo de captura de entrada.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68698" y="3520440"/>
            <a:ext cx="3454298" cy="1691640"/>
          </a:xfrm>
          <a:prstGeom prst="roundRect">
            <a:avLst>
              <a:gd name="adj" fmla="val 5405"/>
            </a:avLst>
          </a:prstGeom>
          <a:solidFill>
            <a:srgbClr val="1B2557"/>
          </a:solidFill>
          <a:ln/>
        </p:spPr>
      </p:sp>
      <p:sp>
        <p:nvSpPr>
          <p:cNvPr id="14" name="Text 11"/>
          <p:cNvSpPr/>
          <p:nvPr/>
        </p:nvSpPr>
        <p:spPr>
          <a:xfrm>
            <a:off x="4597298" y="370332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explicado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97298" y="4114800"/>
            <a:ext cx="299709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"time of flight" do laser gera profundidade e ancora objetos de RA no mundo real.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97317" y="3520440"/>
            <a:ext cx="3454298" cy="1691640"/>
          </a:xfrm>
          <a:prstGeom prst="roundRect">
            <a:avLst>
              <a:gd name="adj" fmla="val 5405"/>
            </a:avLst>
          </a:prstGeom>
          <a:solidFill>
            <a:srgbClr val="1B2557"/>
          </a:solidFill>
          <a:ln/>
        </p:spPr>
      </p:sp>
      <p:sp>
        <p:nvSpPr>
          <p:cNvPr id="17" name="Text 14"/>
          <p:cNvSpPr/>
          <p:nvPr/>
        </p:nvSpPr>
        <p:spPr>
          <a:xfrm>
            <a:off x="8325917" y="370332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GO e RA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325917" y="4114800"/>
            <a:ext cx="299709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câmera como entrada; sobreposição de personagens como saída em tempo real.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" y="54864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por esses termos no YouTube: "How Kinect Works", "LiDAR Explained", "Pokémon GO AR technology" — os resultados mais recentes trazem as melhores demonstrações visuais.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2026-08-12T12:36:38Z</dcterms:created>
  <dcterms:modified xsi:type="dcterms:W3CDTF">2026-08-12T12:36:38Z</dcterms:modified>
</cp:coreProperties>
</file>